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3771f0a6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3771f0a6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3771f0a6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3771f0a6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3771f0a6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3771f0a6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3771f0a6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3771f0a6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8c4e3e0a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8c4e3e0a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3771f0a6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3771f0a6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IISECr06qnbPgPqqo4EnxeuJDP_k9HAT/view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3616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Вендинговый аппарат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454000" y="3658200"/>
            <a:ext cx="3690000" cy="14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Спроектировали, подготовили и разработали: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45818E"/>
                </a:solidFill>
              </a:rPr>
              <a:t>Морякин Лев</a:t>
            </a:r>
            <a:endParaRPr sz="1700">
              <a:solidFill>
                <a:srgbClr val="45818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45818E"/>
                </a:solidFill>
              </a:rPr>
              <a:t>Суханов Михаил</a:t>
            </a:r>
            <a:endParaRPr sz="1700">
              <a:solidFill>
                <a:srgbClr val="45818E"/>
              </a:solidFill>
            </a:endParaRPr>
          </a:p>
        </p:txBody>
      </p:sp>
      <p:pic>
        <p:nvPicPr>
          <p:cNvPr id="56" name="Google Shape;56;p13" title="ГОСТ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596238">
            <a:off x="182271" y="2531252"/>
            <a:ext cx="2354234" cy="2311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/>
              <a:t>Описание задачи</a:t>
            </a:r>
            <a:endParaRPr sz="33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7100" y="738213"/>
            <a:ext cx="1837125" cy="366707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274825" y="1149250"/>
            <a:ext cx="6195900" cy="3551100"/>
          </a:xfrm>
          <a:prstGeom prst="rect">
            <a:avLst/>
          </a:prstGeom>
          <a:solidFill>
            <a:srgbClr val="DFDBDB">
              <a:alpha val="5317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978" lvl="0" marL="1130" rtl="0" algn="l">
              <a:lnSpc>
                <a:spcPct val="110154"/>
              </a:lnSpc>
              <a:spcBef>
                <a:spcPts val="15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У автомата есть 5 кнопок с цифрами -- </a:t>
            </a:r>
            <a:r>
              <a:rPr b="1" lang="ru">
                <a:solidFill>
                  <a:schemeClr val="dk1"/>
                </a:solidFill>
              </a:rPr>
              <a:t>Button</a:t>
            </a:r>
            <a:r>
              <a:rPr lang="ru">
                <a:solidFill>
                  <a:schemeClr val="dk1"/>
                </a:solidFill>
              </a:rPr>
              <a:t>{</a:t>
            </a:r>
            <a:r>
              <a:rPr b="1" lang="ru">
                <a:solidFill>
                  <a:schemeClr val="dk1"/>
                </a:solidFill>
              </a:rPr>
              <a:t>x</a:t>
            </a:r>
            <a:r>
              <a:rPr lang="ru">
                <a:solidFill>
                  <a:schemeClr val="dk1"/>
                </a:solidFill>
              </a:rPr>
              <a:t>}. При нажатии любой из них начинается процесс выдачи товара. Сначала проверяется физическое наличие товара(</a:t>
            </a:r>
            <a:r>
              <a:rPr b="1" lang="ru">
                <a:solidFill>
                  <a:schemeClr val="dk1"/>
                </a:solidFill>
              </a:rPr>
              <a:t>Obj</a:t>
            </a:r>
            <a:r>
              <a:rPr lang="ru">
                <a:solidFill>
                  <a:schemeClr val="dk1"/>
                </a:solidFill>
              </a:rPr>
              <a:t>{</a:t>
            </a:r>
            <a:r>
              <a:rPr b="1" lang="ru">
                <a:solidFill>
                  <a:schemeClr val="dk1"/>
                </a:solidFill>
              </a:rPr>
              <a:t>x</a:t>
            </a:r>
            <a:r>
              <a:rPr lang="ru">
                <a:solidFill>
                  <a:schemeClr val="dk1"/>
                </a:solidFill>
              </a:rPr>
              <a:t>}) по адресу нажатой кнопки(</a:t>
            </a:r>
            <a:r>
              <a:rPr b="1" lang="ru">
                <a:solidFill>
                  <a:schemeClr val="dk1"/>
                </a:solidFill>
              </a:rPr>
              <a:t>active_button</a:t>
            </a:r>
            <a:r>
              <a:rPr lang="ru">
                <a:solidFill>
                  <a:schemeClr val="dk1"/>
                </a:solidFill>
              </a:rPr>
              <a:t>), затем ожидается оплата. Оплата возможна наличными(</a:t>
            </a:r>
            <a:r>
              <a:rPr b="1" lang="ru">
                <a:solidFill>
                  <a:schemeClr val="dk1"/>
                </a:solidFill>
              </a:rPr>
              <a:t>cash_terminal</a:t>
            </a:r>
            <a:r>
              <a:rPr lang="ru">
                <a:solidFill>
                  <a:schemeClr val="dk1"/>
                </a:solidFill>
              </a:rPr>
              <a:t>) либо картой(</a:t>
            </a:r>
            <a:r>
              <a:rPr b="1" lang="ru">
                <a:solidFill>
                  <a:schemeClr val="dk1"/>
                </a:solidFill>
              </a:rPr>
              <a:t>bank_terminal</a:t>
            </a:r>
            <a:r>
              <a:rPr lang="ru">
                <a:solidFill>
                  <a:schemeClr val="dk1"/>
                </a:solidFill>
              </a:rPr>
              <a:t>). Если наличных внесено было с запасом, то выдается сдача. Если на карте недостаточно средств, автомат явно сообщает об этом и от клиента ждут дальнейших действий по оплате либо отмене товара. Далее при успешной оплате производится выдача товара. Датчик проверки выдачи(</a:t>
            </a:r>
            <a:r>
              <a:rPr b="1" lang="ru">
                <a:solidFill>
                  <a:schemeClr val="dk1"/>
                </a:solidFill>
              </a:rPr>
              <a:t>drop_control</a:t>
            </a:r>
            <a:r>
              <a:rPr lang="ru">
                <a:solidFill>
                  <a:schemeClr val="dk1"/>
                </a:solidFill>
              </a:rPr>
              <a:t>) проверяет выпадение товара. При выпадении пользователь забирает свой товар. Иначе ожидайте возврат денег или звоните в службу поддержки. Так же если закончился товар, тоже звоните в службу поддержки.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6091763" y="4703625"/>
            <a:ext cx="3247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 * Вариант поставки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5" name="Google Shape;65;p14" title="ГОСТ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06310">
            <a:off x="1919659" y="-183998"/>
            <a:ext cx="4871252" cy="4783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/>
              <a:t>Киберфизическая диаграмма</a:t>
            </a:r>
            <a:endParaRPr sz="3300"/>
          </a:p>
        </p:txBody>
      </p:sp>
      <p:pic>
        <p:nvPicPr>
          <p:cNvPr id="71" name="Google Shape;71;p15" title="Sche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100" y="1017725"/>
            <a:ext cx="6788374" cy="38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ГОСТ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06310">
            <a:off x="1919659" y="-183998"/>
            <a:ext cx="4871252" cy="4783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/>
              <a:t>Входные и выходные сигналы</a:t>
            </a:r>
            <a:endParaRPr sz="3300"/>
          </a:p>
        </p:txBody>
      </p:sp>
      <p:sp>
        <p:nvSpPr>
          <p:cNvPr id="78" name="Google Shape;78;p16"/>
          <p:cNvSpPr/>
          <p:nvPr/>
        </p:nvSpPr>
        <p:spPr>
          <a:xfrm>
            <a:off x="311700" y="1152475"/>
            <a:ext cx="4643700" cy="3664500"/>
          </a:xfrm>
          <a:prstGeom prst="rect">
            <a:avLst/>
          </a:prstGeom>
          <a:solidFill>
            <a:srgbClr val="DFDBDB">
              <a:alpha val="5317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22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Датчики </a:t>
            </a:r>
            <a:endParaRPr b="1">
              <a:solidFill>
                <a:schemeClr val="dk1"/>
              </a:solidFill>
            </a:endParaRPr>
          </a:p>
          <a:p>
            <a:pPr indent="0" lvl="0" marL="241186" rtl="0" algn="l">
              <a:spcBef>
                <a:spcPts val="15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● 5 датчиков наличия товара </a:t>
            </a:r>
            <a:r>
              <a:rPr b="1" lang="ru">
                <a:solidFill>
                  <a:schemeClr val="dk1"/>
                </a:solidFill>
              </a:rPr>
              <a:t>Obj[5] </a:t>
            </a:r>
            <a:endParaRPr b="1">
              <a:solidFill>
                <a:schemeClr val="dk1"/>
              </a:solidFill>
            </a:endParaRPr>
          </a:p>
          <a:p>
            <a:pPr indent="0" lvl="0" marL="241186" rtl="0" algn="l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● 5 кнопок с цифрами </a:t>
            </a:r>
            <a:r>
              <a:rPr b="1" lang="ru">
                <a:solidFill>
                  <a:schemeClr val="dk1"/>
                </a:solidFill>
              </a:rPr>
              <a:t>Button[5] </a:t>
            </a:r>
            <a:endParaRPr b="1">
              <a:solidFill>
                <a:schemeClr val="dk1"/>
              </a:solidFill>
            </a:endParaRPr>
          </a:p>
          <a:p>
            <a:pPr indent="0" lvl="0" marL="241186" rtl="0" algn="l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● Кнопка отмены </a:t>
            </a:r>
            <a:r>
              <a:rPr b="1" lang="ru">
                <a:solidFill>
                  <a:schemeClr val="dk1"/>
                </a:solidFill>
              </a:rPr>
              <a:t>Cancellation </a:t>
            </a:r>
            <a:endParaRPr b="1">
              <a:solidFill>
                <a:schemeClr val="dk1"/>
              </a:solidFill>
            </a:endParaRPr>
          </a:p>
          <a:p>
            <a:pPr indent="0" lvl="0" marL="241186" rtl="0" algn="l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● Датчик выпадения товара </a:t>
            </a:r>
            <a:r>
              <a:rPr b="1" lang="ru">
                <a:solidFill>
                  <a:schemeClr val="dk1"/>
                </a:solidFill>
              </a:rPr>
              <a:t>Drop_control </a:t>
            </a:r>
            <a:endParaRPr b="1">
              <a:solidFill>
                <a:schemeClr val="dk1"/>
              </a:solidFill>
            </a:endParaRPr>
          </a:p>
          <a:p>
            <a:pPr indent="0" lvl="0" marL="241186" rtl="0" algn="l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● датчик купюроприёмника </a:t>
            </a:r>
            <a:r>
              <a:rPr b="1" lang="ru">
                <a:solidFill>
                  <a:schemeClr val="dk1"/>
                </a:solidFill>
              </a:rPr>
              <a:t>cash_terminal </a:t>
            </a:r>
            <a:endParaRPr b="1">
              <a:solidFill>
                <a:schemeClr val="dk1"/>
              </a:solidFill>
            </a:endParaRPr>
          </a:p>
          <a:p>
            <a:pPr indent="0" lvl="0" marL="241186" rtl="0" algn="l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● датчик банковской карты </a:t>
            </a:r>
            <a:r>
              <a:rPr b="1" lang="ru">
                <a:solidFill>
                  <a:schemeClr val="dk1"/>
                </a:solidFill>
              </a:rPr>
              <a:t>bank_terminal </a:t>
            </a:r>
            <a:endParaRPr b="1">
              <a:solidFill>
                <a:schemeClr val="dk1"/>
              </a:solidFill>
            </a:endParaRPr>
          </a:p>
          <a:p>
            <a:pPr indent="0" lvl="0" marL="16193" rtl="0" algn="l">
              <a:spcBef>
                <a:spcPts val="193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</a:rPr>
              <a:t>Выходные сигналы </a:t>
            </a:r>
            <a:endParaRPr b="1">
              <a:solidFill>
                <a:schemeClr val="dk1"/>
              </a:solidFill>
            </a:endParaRPr>
          </a:p>
          <a:p>
            <a:pPr indent="0" lvl="0" marL="241186" rtl="0" algn="l">
              <a:spcBef>
                <a:spcPts val="15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● 5 вращающихся спиралей </a:t>
            </a:r>
            <a:r>
              <a:rPr b="1" lang="ru">
                <a:solidFill>
                  <a:schemeClr val="dk1"/>
                </a:solidFill>
              </a:rPr>
              <a:t>Spring[5] </a:t>
            </a:r>
            <a:endParaRPr b="1">
              <a:solidFill>
                <a:schemeClr val="dk1"/>
              </a:solidFill>
            </a:endParaRPr>
          </a:p>
          <a:p>
            <a:pPr indent="0" lvl="0" marL="241186" marR="460967" rtl="0" algn="l">
              <a:lnSpc>
                <a:spcPct val="110154"/>
              </a:lnSpc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● вывод текста на текстовый дисплей </a:t>
            </a:r>
            <a:r>
              <a:rPr b="1" lang="ru">
                <a:solidFill>
                  <a:schemeClr val="dk1"/>
                </a:solidFill>
              </a:rPr>
              <a:t>text_display </a:t>
            </a:r>
            <a:endParaRPr b="1">
              <a:solidFill>
                <a:schemeClr val="dk1"/>
              </a:solidFill>
            </a:endParaRPr>
          </a:p>
          <a:p>
            <a:pPr indent="0" lvl="0" marL="241186" rtl="0" algn="l">
              <a:spcBef>
                <a:spcPts val="5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● выдача сдачи </a:t>
            </a:r>
            <a:r>
              <a:rPr b="1" lang="ru">
                <a:solidFill>
                  <a:schemeClr val="dk1"/>
                </a:solidFill>
              </a:rPr>
              <a:t>user_change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5086825" y="1152475"/>
            <a:ext cx="3996900" cy="3306300"/>
          </a:xfrm>
          <a:prstGeom prst="rect">
            <a:avLst/>
          </a:prstGeom>
          <a:solidFill>
            <a:srgbClr val="DFDBDB">
              <a:alpha val="5317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934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600">
                <a:solidFill>
                  <a:schemeClr val="dk1"/>
                </a:solidFill>
              </a:rPr>
              <a:t>Пороговые значения </a:t>
            </a:r>
            <a:endParaRPr b="1" sz="1600">
              <a:solidFill>
                <a:schemeClr val="dk1"/>
              </a:solidFill>
            </a:endParaRPr>
          </a:p>
          <a:p>
            <a:pPr indent="0" lvl="0" marL="241186" rtl="0" algn="l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● Таймер вывода сообщения </a:t>
            </a:r>
            <a:r>
              <a:rPr b="1" lang="ru" sz="1600">
                <a:solidFill>
                  <a:schemeClr val="dk1"/>
                </a:solidFill>
              </a:rPr>
              <a:t>display_timeout </a:t>
            </a:r>
            <a:endParaRPr b="1" sz="1600">
              <a:solidFill>
                <a:schemeClr val="dk1"/>
              </a:solidFill>
            </a:endParaRPr>
          </a:p>
          <a:p>
            <a:pPr indent="0" lvl="0" marL="241186" rtl="0" algn="l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● 5 цен на товары </a:t>
            </a:r>
            <a:r>
              <a:rPr b="1" lang="ru" sz="1600">
                <a:solidFill>
                  <a:schemeClr val="dk1"/>
                </a:solidFill>
              </a:rPr>
              <a:t>price[5] </a:t>
            </a:r>
            <a:endParaRPr b="1" sz="1600">
              <a:solidFill>
                <a:schemeClr val="dk1"/>
              </a:solidFill>
            </a:endParaRPr>
          </a:p>
          <a:p>
            <a:pPr indent="0" lvl="0" marL="241186" rtl="0" algn="l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● текстовые константы для дисплея</a:t>
            </a:r>
            <a:endParaRPr sz="1600">
              <a:solidFill>
                <a:schemeClr val="dk1"/>
              </a:solidFill>
            </a:endParaRPr>
          </a:p>
          <a:p>
            <a:pPr indent="0" lvl="0" marL="241186" rtl="0" algn="l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● таймер бездействия пользователя </a:t>
            </a:r>
            <a:r>
              <a:rPr b="1" lang="ru" sz="1600">
                <a:solidFill>
                  <a:schemeClr val="dk1"/>
                </a:solidFill>
              </a:rPr>
              <a:t>action_tim</a:t>
            </a:r>
            <a:endParaRPr b="1" sz="1600">
              <a:solidFill>
                <a:schemeClr val="dk1"/>
              </a:solidFill>
            </a:endParaRPr>
          </a:p>
          <a:p>
            <a:pPr indent="0" lvl="0" marL="241186" rtl="0" algn="l">
              <a:spcBef>
                <a:spcPts val="17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● таймер выдачи товара </a:t>
            </a:r>
            <a:r>
              <a:rPr b="1" lang="ru" sz="1600">
                <a:solidFill>
                  <a:schemeClr val="dk1"/>
                </a:solidFill>
              </a:rPr>
              <a:t>giveout_tim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 title="ГОСТ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06310">
            <a:off x="1919659" y="-183998"/>
            <a:ext cx="4871252" cy="4783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/>
              <a:t>Требования</a:t>
            </a:r>
            <a:endParaRPr sz="3300"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75" y="1152474"/>
            <a:ext cx="7544226" cy="381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 title="ГОСТ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06310">
            <a:off x="1919659" y="-183998"/>
            <a:ext cx="4871252" cy="4783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Beer_machine.project - CODESYS  2026-05-27 11-04-2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8875" y="50050"/>
            <a:ext cx="6595150" cy="494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ГОСТ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606310">
            <a:off x="2441397" y="-171948"/>
            <a:ext cx="4871252" cy="4783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1" type="subTitle"/>
          </p:nvPr>
        </p:nvSpPr>
        <p:spPr>
          <a:xfrm>
            <a:off x="5454000" y="3658200"/>
            <a:ext cx="3690000" cy="14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Спроектировали, подготовили и разработали: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45818E"/>
                </a:solidFill>
              </a:rPr>
              <a:t>Морякин Лев</a:t>
            </a:r>
            <a:endParaRPr sz="1700">
              <a:solidFill>
                <a:srgbClr val="45818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45818E"/>
                </a:solidFill>
              </a:rPr>
              <a:t>Суханов Михаил</a:t>
            </a:r>
            <a:endParaRPr sz="1700">
              <a:solidFill>
                <a:srgbClr val="45818E"/>
              </a:solidFill>
            </a:endParaRPr>
          </a:p>
        </p:txBody>
      </p:sp>
      <p:pic>
        <p:nvPicPr>
          <p:cNvPr id="99" name="Google Shape;99;p19" title="ГОСТ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596238">
            <a:off x="182271" y="2531252"/>
            <a:ext cx="2354234" cy="231187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Вендинговый аппарат</a:t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3381450" y="2571750"/>
            <a:ext cx="23811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chemeClr val="dk2"/>
                </a:solidFill>
              </a:rPr>
              <a:t>Q&amp;A</a:t>
            </a:r>
            <a:endParaRPr sz="6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